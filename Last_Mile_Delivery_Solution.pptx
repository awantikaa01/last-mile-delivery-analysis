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Avg delay</c:v>
          </c:tx>
          <c:spPr>
            <a:solidFill>
              <a:srgbClr val="2563EB"/>
            </a:solidFill>
          </c:spPr>
          <c:invertIfNegative val="1"/>
          <c:dLbls>
            <c:delete val="1"/>
          </c:dLbls>
          <c:cat>
            <c:strLit>
              <c:ptCount val="2"/>
              <c:pt idx="0">
                <c:v>Peak</c:v>
              </c:pt>
              <c:pt idx="1">
                <c:v>Off-Peak</c:v>
              </c:pt>
            </c:strLit>
          </c:cat>
          <c:val>
            <c:numLit>
              <c:formatCode>General</c:formatCode>
              <c:ptCount val="2"/>
              <c:pt idx="0">
                <c:v>23.25</c:v>
              </c:pt>
              <c:pt idx="1">
                <c:v>7.38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46-4164-8A02-883FD88363F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Median delay</c:v>
          </c:tx>
          <c:spPr>
            <a:solidFill>
              <a:srgbClr val="7C3AED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Fog</c:v>
              </c:pt>
              <c:pt idx="1">
                <c:v>Rain</c:v>
              </c:pt>
              <c:pt idx="2">
                <c:v>Clear</c:v>
              </c:pt>
              <c:pt idx="3">
                <c:v>Partly Cloudy</c:v>
              </c:pt>
            </c:strLit>
          </c:cat>
          <c:val>
            <c:numLit>
              <c:formatCode>General</c:formatCode>
              <c:ptCount val="4"/>
              <c:pt idx="0">
                <c:v>37.9</c:v>
              </c:pt>
              <c:pt idx="1">
                <c:v>29.4</c:v>
              </c:pt>
              <c:pt idx="2">
                <c:v>6.1</c:v>
              </c:pt>
              <c:pt idx="3">
                <c:v>5.5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50B-4BDE-9E6A-C73B24F977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On-time rate %</c:v>
          </c:tx>
          <c:spPr>
            <a:solidFill>
              <a:srgbClr val="16A34A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Bangalore</c:v>
              </c:pt>
              <c:pt idx="1">
                <c:v>Delhi</c:v>
              </c:pt>
              <c:pt idx="2">
                <c:v>Ahmedabad</c:v>
              </c:pt>
              <c:pt idx="3">
                <c:v>Hyderabad</c:v>
              </c:pt>
            </c:strLit>
          </c:cat>
          <c:val>
            <c:numLit>
              <c:formatCode>General</c:formatCode>
              <c:ptCount val="4"/>
              <c:pt idx="0">
                <c:v>31.1</c:v>
              </c:pt>
              <c:pt idx="1">
                <c:v>34.299999999999997</c:v>
              </c:pt>
              <c:pt idx="2">
                <c:v>34.700000000000003</c:v>
              </c:pt>
              <c:pt idx="3">
                <c:v>51.6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36-44FA-945D-BF87FD0980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BB3526-CB14-4D86-9FF1-DEFBCBAC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843" y="1291380"/>
            <a:ext cx="6994331" cy="3785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055AC5-8607-C6B4-424D-7CC7FA05728B}"/>
              </a:ext>
            </a:extLst>
          </p:cNvPr>
          <p:cNvSpPr txBox="1"/>
          <p:nvPr/>
        </p:nvSpPr>
        <p:spPr>
          <a:xfrm>
            <a:off x="363794" y="16343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"Executive Summary"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A6AB38-F2AA-9E69-C843-4B1F0B529D13}"/>
              </a:ext>
            </a:extLst>
          </p:cNvPr>
          <p:cNvSpPr/>
          <p:nvPr/>
        </p:nvSpPr>
        <p:spPr>
          <a:xfrm>
            <a:off x="147128" y="194638"/>
            <a:ext cx="1152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MiniHack: AI Data Intelligence Challenge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2DF8E-FE7D-70B0-4B37-BB966B7426DC}"/>
              </a:ext>
            </a:extLst>
          </p:cNvPr>
          <p:cNvSpPr/>
          <p:nvPr/>
        </p:nvSpPr>
        <p:spPr>
          <a:xfrm>
            <a:off x="363794" y="2576051"/>
            <a:ext cx="5073445" cy="37854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Peak-hour orders experience 3x higher delays.</a:t>
            </a:r>
          </a:p>
          <a:p>
            <a:pPr algn="ctr"/>
            <a:r>
              <a:rPr lang="en-IN" dirty="0"/>
              <a:t> Fog and rain are the biggest external delay drivers. </a:t>
            </a:r>
          </a:p>
          <a:p>
            <a:pPr algn="ctr"/>
            <a:r>
              <a:rPr lang="en-IN" dirty="0"/>
              <a:t>Rider experience has minimal impact.</a:t>
            </a:r>
          </a:p>
          <a:p>
            <a:pPr algn="ctr"/>
            <a:r>
              <a:rPr lang="en-IN" dirty="0"/>
              <a:t> City-level operational planning affects performance more than rider tenure. </a:t>
            </a:r>
          </a:p>
          <a:p>
            <a:pPr algn="ctr"/>
            <a:r>
              <a:rPr lang="en-IN" dirty="0"/>
              <a:t>Peak-hour staffing + weather-aware dispatching is the biggest operational fix.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8893E-C269-B712-687C-A19CD88FBE01}"/>
              </a:ext>
            </a:extLst>
          </p:cNvPr>
          <p:cNvSpPr/>
          <p:nvPr/>
        </p:nvSpPr>
        <p:spPr>
          <a:xfrm>
            <a:off x="9468201" y="4825631"/>
            <a:ext cx="2360005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Made by:</a:t>
            </a:r>
          </a:p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Awantika Tripathi</a:t>
            </a:r>
          </a:p>
          <a:p>
            <a:pPr algn="ctr"/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B.Tech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59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8BBF64D-771B-43A0-9493-40989648CFD2}"/>
              </a:ext>
            </a:extLst>
          </p:cNvPr>
          <p:cNvSpPr>
            <a:spLocks noGrp="1"/>
          </p:cNvSpPr>
          <p:nvPr/>
        </p:nvSpPr>
        <p:spPr>
          <a:xfrm>
            <a:off x="342900" y="142874"/>
            <a:ext cx="7620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0F172A"/>
                </a:solidFill>
              </a:defRPr>
            </a:pPr>
            <a:r>
              <a:rPr sz="3750" b="1" dirty="0">
                <a:solidFill>
                  <a:srgbClr val="0F172A"/>
                </a:solidFill>
              </a:rPr>
              <a:t>Last Mile Delivery Delay</a:t>
            </a:r>
          </a:p>
          <a:p>
            <a:pPr algn="l">
              <a:defRPr sz="3750" b="1">
                <a:solidFill>
                  <a:srgbClr val="0F172A"/>
                </a:solidFill>
              </a:defRPr>
            </a:pPr>
            <a:r>
              <a:rPr sz="3750" b="1" dirty="0">
                <a:solidFill>
                  <a:srgbClr val="0F172A"/>
                </a:solidFill>
              </a:rPr>
              <a:t>Root Cause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D3F34-FE18-48AF-B4CB-43ADF19C0948}"/>
              </a:ext>
            </a:extLst>
          </p:cNvPr>
          <p:cNvSpPr>
            <a:spLocks noGrp="1"/>
          </p:cNvSpPr>
          <p:nvPr/>
        </p:nvSpPr>
        <p:spPr>
          <a:xfrm>
            <a:off x="361950" y="1352549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 dirty="0">
                <a:solidFill>
                  <a:srgbClr val="475569"/>
                </a:solidFill>
              </a:rPr>
              <a:t>AI Data Intelligence solution using Python, EDA, statistics,</a:t>
            </a:r>
            <a:endParaRPr lang="en-IN" sz="1800" b="0" dirty="0">
              <a:solidFill>
                <a:srgbClr val="475569"/>
              </a:solidFill>
            </a:endParaRPr>
          </a:p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 dirty="0">
                <a:solidFill>
                  <a:srgbClr val="475569"/>
                </a:solidFill>
              </a:rPr>
              <a:t> dashboarding, and machine learning.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30206D-877E-414F-9153-A02F23C6C1FD}"/>
              </a:ext>
            </a:extLst>
          </p:cNvPr>
          <p:cNvSpPr>
            <a:spLocks noGrp="1"/>
          </p:cNvSpPr>
          <p:nvPr/>
        </p:nvSpPr>
        <p:spPr>
          <a:xfrm>
            <a:off x="7810500" y="1142999"/>
            <a:ext cx="3143250" cy="12096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AA6D5-DA79-470E-810D-269A85BB68DD}"/>
              </a:ext>
            </a:extLst>
          </p:cNvPr>
          <p:cNvSpPr>
            <a:spLocks noGrp="1"/>
          </p:cNvSpPr>
          <p:nvPr/>
        </p:nvSpPr>
        <p:spPr>
          <a:xfrm>
            <a:off x="7810500" y="1228725"/>
            <a:ext cx="76200" cy="10477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A2CC0-88B6-423C-8CB9-15FC779F52CD}"/>
              </a:ext>
            </a:extLst>
          </p:cNvPr>
          <p:cNvSpPr>
            <a:spLocks noGrp="1"/>
          </p:cNvSpPr>
          <p:nvPr/>
        </p:nvSpPr>
        <p:spPr>
          <a:xfrm>
            <a:off x="8039100" y="13144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5B0-0DD4-44F3-8513-CB90C8D6C538}"/>
              </a:ext>
            </a:extLst>
          </p:cNvPr>
          <p:cNvSpPr>
            <a:spLocks noGrp="1"/>
          </p:cNvSpPr>
          <p:nvPr/>
        </p:nvSpPr>
        <p:spPr>
          <a:xfrm>
            <a:off x="8020050" y="1598509"/>
            <a:ext cx="2724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 dirty="0">
                <a:solidFill>
                  <a:srgbClr val="475569"/>
                </a:solidFill>
              </a:rPr>
              <a:t>2,080 orders</a:t>
            </a:r>
          </a:p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 dirty="0">
                <a:solidFill>
                  <a:srgbClr val="475569"/>
                </a:solidFill>
              </a:rPr>
              <a:t>10 Indian cities</a:t>
            </a:r>
          </a:p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 dirty="0">
                <a:solidFill>
                  <a:srgbClr val="475569"/>
                </a:solidFill>
              </a:rPr>
              <a:t>Full-year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FC31BC-7A1C-4686-9C36-E787D9437DF3}"/>
              </a:ext>
            </a:extLst>
          </p:cNvPr>
          <p:cNvSpPr>
            <a:spLocks noGrp="1"/>
          </p:cNvSpPr>
          <p:nvPr/>
        </p:nvSpPr>
        <p:spPr>
          <a:xfrm>
            <a:off x="7810500" y="2466975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D28D7F-4D84-4E7F-95D1-0CD7440B1C58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76200" cy="1047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20B3F7-D4FF-4D00-8914-864FDBAF9AC4}"/>
              </a:ext>
            </a:extLst>
          </p:cNvPr>
          <p:cNvSpPr>
            <a:spLocks noGrp="1"/>
          </p:cNvSpPr>
          <p:nvPr/>
        </p:nvSpPr>
        <p:spPr>
          <a:xfrm>
            <a:off x="8020050" y="2470047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 dirty="0">
                <a:solidFill>
                  <a:srgbClr val="0F172A"/>
                </a:solidFill>
              </a:rPr>
              <a:t>Goal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05BAB-2D9F-4EF3-9F43-FC019F01A57B}"/>
              </a:ext>
            </a:extLst>
          </p:cNvPr>
          <p:cNvSpPr>
            <a:spLocks noGrp="1"/>
          </p:cNvSpPr>
          <p:nvPr/>
        </p:nvSpPr>
        <p:spPr>
          <a:xfrm>
            <a:off x="8020050" y="2847975"/>
            <a:ext cx="2724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 dirty="0">
                <a:solidFill>
                  <a:srgbClr val="475569"/>
                </a:solidFill>
              </a:rPr>
              <a:t>Find delay root causes and recommend one practical operational fix.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9B7EC6-5AD9-4AD6-A81B-66D2893F4D81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BCCB27-78D9-49D9-8080-382E8BE97421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76200" cy="10477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A634E-C7C1-4ACB-A1D4-11413834EC8B}"/>
              </a:ext>
            </a:extLst>
          </p:cNvPr>
          <p:cNvSpPr>
            <a:spLocks noGrp="1"/>
          </p:cNvSpPr>
          <p:nvPr/>
        </p:nvSpPr>
        <p:spPr>
          <a:xfrm>
            <a:off x="8039100" y="39814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Deliverables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E4B6B5-5B71-49DC-B751-9F2F5379FB9D}"/>
              </a:ext>
            </a:extLst>
          </p:cNvPr>
          <p:cNvSpPr>
            <a:spLocks noGrp="1"/>
          </p:cNvSpPr>
          <p:nvPr/>
        </p:nvSpPr>
        <p:spPr>
          <a:xfrm>
            <a:off x="8020050" y="4257674"/>
            <a:ext cx="2724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 dirty="0">
                <a:solidFill>
                  <a:srgbClr val="475569"/>
                </a:solidFill>
              </a:rPr>
              <a:t>Notebook, dashboard, ML model, PPT, and repository README.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D611A8-09F5-4D39-944B-C8BC83546DE7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0C60F7-E986-883C-8773-94480FEDB649}"/>
              </a:ext>
            </a:extLst>
          </p:cNvPr>
          <p:cNvSpPr/>
          <p:nvPr/>
        </p:nvSpPr>
        <p:spPr>
          <a:xfrm>
            <a:off x="6679724" y="38694"/>
            <a:ext cx="36503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dirty="0"/>
              <a:t>City Ranking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B57C13A-0C4E-3254-C010-31267A16D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62" y="2510049"/>
            <a:ext cx="6656438" cy="389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5B831E2-A727-4595-902D-5CEE138334DD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Solution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2A87B4-BE18-4A4F-A2A2-4B913F11360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From raw delivery data to operational decision-making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BF77BB-90BA-4CAA-A166-ABC00FDF009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714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AF7968-D399-43E9-9AFC-2BFA3B64722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6AD33D-186A-4E5F-B6AA-27973E404AEC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6200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E8810-B767-4231-9594-0E41F130857C}"/>
              </a:ext>
            </a:extLst>
          </p:cNvPr>
          <p:cNvSpPr>
            <a:spLocks noGrp="1"/>
          </p:cNvSpPr>
          <p:nvPr/>
        </p:nvSpPr>
        <p:spPr>
          <a:xfrm>
            <a:off x="990600" y="23145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Load &amp; Inspect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D8CE9F-7665-4C1B-9A97-8AD092B57570}"/>
              </a:ext>
            </a:extLst>
          </p:cNvPr>
          <p:cNvSpPr>
            <a:spLocks noGrp="1"/>
          </p:cNvSpPr>
          <p:nvPr/>
        </p:nvSpPr>
        <p:spPr>
          <a:xfrm>
            <a:off x="990600" y="2733675"/>
            <a:ext cx="2628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Read CSV, check rows, columns, data types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288880-561F-4785-953A-15CBCA26C6DB}"/>
              </a:ext>
            </a:extLst>
          </p:cNvPr>
          <p:cNvSpPr>
            <a:spLocks noGrp="1"/>
          </p:cNvSpPr>
          <p:nvPr/>
        </p:nvSpPr>
        <p:spPr>
          <a:xfrm>
            <a:off x="4381500" y="21431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9F3F4A-6E5D-4FA0-BD22-511C972ED69C}"/>
              </a:ext>
            </a:extLst>
          </p:cNvPr>
          <p:cNvSpPr>
            <a:spLocks noGrp="1"/>
          </p:cNvSpPr>
          <p:nvPr/>
        </p:nvSpPr>
        <p:spPr>
          <a:xfrm>
            <a:off x="4381500" y="2143125"/>
            <a:ext cx="76200" cy="11430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A1F3F5-F7B6-4AA3-A3A8-2D8CE5E60190}"/>
              </a:ext>
            </a:extLst>
          </p:cNvPr>
          <p:cNvSpPr>
            <a:spLocks noGrp="1"/>
          </p:cNvSpPr>
          <p:nvPr/>
        </p:nvSpPr>
        <p:spPr>
          <a:xfrm>
            <a:off x="4610100" y="23145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Clean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BDFE3-9488-4BA5-A45D-59A81EC796AA}"/>
              </a:ext>
            </a:extLst>
          </p:cNvPr>
          <p:cNvSpPr>
            <a:spLocks noGrp="1"/>
          </p:cNvSpPr>
          <p:nvPr/>
        </p:nvSpPr>
        <p:spPr>
          <a:xfrm>
            <a:off x="4610100" y="2733675"/>
            <a:ext cx="2628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Handle missing values, standardize categories, fix city spelling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6C7801-8ACB-4F10-9C60-2BDEA2CF12D3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33553E-6214-43AA-810B-F6D0470F3F9D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76200" cy="11430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084601-20E6-4BEB-9D45-009D5616C95C}"/>
              </a:ext>
            </a:extLst>
          </p:cNvPr>
          <p:cNvSpPr>
            <a:spLocks noGrp="1"/>
          </p:cNvSpPr>
          <p:nvPr/>
        </p:nvSpPr>
        <p:spPr>
          <a:xfrm>
            <a:off x="8229600" y="23145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EDA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0A32D-D84D-4503-A681-848EBAB928AC}"/>
              </a:ext>
            </a:extLst>
          </p:cNvPr>
          <p:cNvSpPr>
            <a:spLocks noGrp="1"/>
          </p:cNvSpPr>
          <p:nvPr/>
        </p:nvSpPr>
        <p:spPr>
          <a:xfrm>
            <a:off x="8229600" y="2733675"/>
            <a:ext cx="2628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Analyze peak hours, weather, city, vehicle and monthly trends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822404-D10F-465F-BBF5-B78834942360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FDB848-B010-417F-BC38-4DC474464155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76200" cy="11430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0749F-ACF2-4E3D-9ACA-5F74F81DB87C}"/>
              </a:ext>
            </a:extLst>
          </p:cNvPr>
          <p:cNvSpPr>
            <a:spLocks noGrp="1"/>
          </p:cNvSpPr>
          <p:nvPr/>
        </p:nvSpPr>
        <p:spPr>
          <a:xfrm>
            <a:off x="990600" y="393382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Statistics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81373F-091F-4F30-AFAA-5C513972BF2E}"/>
              </a:ext>
            </a:extLst>
          </p:cNvPr>
          <p:cNvSpPr>
            <a:spLocks noGrp="1"/>
          </p:cNvSpPr>
          <p:nvPr/>
        </p:nvSpPr>
        <p:spPr>
          <a:xfrm>
            <a:off x="990600" y="4352925"/>
            <a:ext cx="2628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Use tests to confirm meaningful differences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CB69B13-0663-4641-AE88-669E5C44B9A2}"/>
              </a:ext>
            </a:extLst>
          </p:cNvPr>
          <p:cNvSpPr>
            <a:spLocks noGrp="1"/>
          </p:cNvSpPr>
          <p:nvPr/>
        </p:nvSpPr>
        <p:spPr>
          <a:xfrm>
            <a:off x="4381500" y="376237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CC3976-C91E-4A2A-8D9C-86C758EFD9B4}"/>
              </a:ext>
            </a:extLst>
          </p:cNvPr>
          <p:cNvSpPr>
            <a:spLocks noGrp="1"/>
          </p:cNvSpPr>
          <p:nvPr/>
        </p:nvSpPr>
        <p:spPr>
          <a:xfrm>
            <a:off x="4381500" y="3762375"/>
            <a:ext cx="76200" cy="11430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5BF22A-0C6C-429C-A4BA-1153FADCC068}"/>
              </a:ext>
            </a:extLst>
          </p:cNvPr>
          <p:cNvSpPr>
            <a:spLocks noGrp="1"/>
          </p:cNvSpPr>
          <p:nvPr/>
        </p:nvSpPr>
        <p:spPr>
          <a:xfrm>
            <a:off x="4610100" y="393382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ML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D9508-F44F-4772-A9A8-549B841764BF}"/>
              </a:ext>
            </a:extLst>
          </p:cNvPr>
          <p:cNvSpPr>
            <a:spLocks noGrp="1"/>
          </p:cNvSpPr>
          <p:nvPr/>
        </p:nvSpPr>
        <p:spPr>
          <a:xfrm>
            <a:off x="4610100" y="4352925"/>
            <a:ext cx="2628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Predict delayed vs on-time delivery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A0223C-69D9-442C-AAA8-74FAB9C6A255}"/>
              </a:ext>
            </a:extLst>
          </p:cNvPr>
          <p:cNvSpPr>
            <a:spLocks noGrp="1"/>
          </p:cNvSpPr>
          <p:nvPr/>
        </p:nvSpPr>
        <p:spPr>
          <a:xfrm>
            <a:off x="8001000" y="3762375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7E3405-DA88-4369-B1E5-03FE9AB2CE1F}"/>
              </a:ext>
            </a:extLst>
          </p:cNvPr>
          <p:cNvSpPr>
            <a:spLocks noGrp="1"/>
          </p:cNvSpPr>
          <p:nvPr/>
        </p:nvSpPr>
        <p:spPr>
          <a:xfrm>
            <a:off x="8001000" y="3762375"/>
            <a:ext cx="76200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C909B3-7A1E-49EE-8442-EEC485D1D079}"/>
              </a:ext>
            </a:extLst>
          </p:cNvPr>
          <p:cNvSpPr>
            <a:spLocks noGrp="1"/>
          </p:cNvSpPr>
          <p:nvPr/>
        </p:nvSpPr>
        <p:spPr>
          <a:xfrm>
            <a:off x="8229600" y="393382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Recommendation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3848E8-F25C-42B9-ACC8-19D88671330B}"/>
              </a:ext>
            </a:extLst>
          </p:cNvPr>
          <p:cNvSpPr>
            <a:spLocks noGrp="1"/>
          </p:cNvSpPr>
          <p:nvPr/>
        </p:nvSpPr>
        <p:spPr>
          <a:xfrm>
            <a:off x="8229600" y="4352925"/>
            <a:ext cx="2628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Convert findings into a practical dispatch action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AE72AF-020F-470B-90D3-A0C4E2BEC683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2</a:t>
            </a:r>
          </a:p>
        </p:txBody>
      </p:sp>
    </p:spTree>
    <p:extLst>
      <p:ext uri="{BB962C8B-B14F-4D97-AF65-F5344CB8AC3E}">
        <p14:creationId xmlns:p14="http://schemas.microsoft.com/office/powerpoint/2010/main" val="80917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0A7A27D-DD14-437B-B338-7995A65FB04B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Q1: Peak-Hour Delay Pattern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032D59-C8BA-4E68-B1B2-3B376645329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8-10 AM and 5-8 PM show the strongest operational pressure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0E146B-1AAD-4C8B-ADA6-D957913CD76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714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CFB9D8-9117-469B-BDF9-95E2BD261161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29527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9AB87-F6BF-4965-877D-DFD937A85321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76200" cy="128587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D7051-86F3-47A3-82ED-79D3B0A973E1}"/>
              </a:ext>
            </a:extLst>
          </p:cNvPr>
          <p:cNvSpPr>
            <a:spLocks noGrp="1"/>
          </p:cNvSpPr>
          <p:nvPr/>
        </p:nvSpPr>
        <p:spPr>
          <a:xfrm>
            <a:off x="942975" y="231457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Peak Avg Delay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77B171-BB03-4C64-A890-1747E7C6FB28}"/>
              </a:ext>
            </a:extLst>
          </p:cNvPr>
          <p:cNvSpPr>
            <a:spLocks noGrp="1"/>
          </p:cNvSpPr>
          <p:nvPr/>
        </p:nvSpPr>
        <p:spPr>
          <a:xfrm>
            <a:off x="942975" y="2733675"/>
            <a:ext cx="2533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23.25 minutes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16FCE8-4EC2-4370-B1B5-C4C7B432FEA1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29527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9431A9-28FC-44B2-B137-836B44BC07FE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76200" cy="128587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5D8EF-E8CB-4B27-B601-E4004DA9045C}"/>
              </a:ext>
            </a:extLst>
          </p:cNvPr>
          <p:cNvSpPr>
            <a:spLocks noGrp="1"/>
          </p:cNvSpPr>
          <p:nvPr/>
        </p:nvSpPr>
        <p:spPr>
          <a:xfrm>
            <a:off x="4276725" y="231457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Off-Peak Avg Delay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F0EC49-6743-45CF-9CC2-8929B6604575}"/>
              </a:ext>
            </a:extLst>
          </p:cNvPr>
          <p:cNvSpPr>
            <a:spLocks noGrp="1"/>
          </p:cNvSpPr>
          <p:nvPr/>
        </p:nvSpPr>
        <p:spPr>
          <a:xfrm>
            <a:off x="4276725" y="2733675"/>
            <a:ext cx="2533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7.38 minutes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5AFDA6-5EA7-4879-B972-16764E7F8F19}"/>
              </a:ext>
            </a:extLst>
          </p:cNvPr>
          <p:cNvSpPr>
            <a:spLocks noGrp="1"/>
          </p:cNvSpPr>
          <p:nvPr/>
        </p:nvSpPr>
        <p:spPr>
          <a:xfrm>
            <a:off x="7381875" y="2143125"/>
            <a:ext cx="31432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C15C50-23B4-4DBE-966A-0A1BD3C6D884}"/>
              </a:ext>
            </a:extLst>
          </p:cNvPr>
          <p:cNvSpPr>
            <a:spLocks noGrp="1"/>
          </p:cNvSpPr>
          <p:nvPr/>
        </p:nvSpPr>
        <p:spPr>
          <a:xfrm>
            <a:off x="7381875" y="2143125"/>
            <a:ext cx="76200" cy="128587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3D8736-61F7-46ED-BCCA-104815FAF110}"/>
              </a:ext>
            </a:extLst>
          </p:cNvPr>
          <p:cNvSpPr>
            <a:spLocks noGrp="1"/>
          </p:cNvSpPr>
          <p:nvPr/>
        </p:nvSpPr>
        <p:spPr>
          <a:xfrm>
            <a:off x="7610475" y="2314575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Extra Delay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32B2CA-9995-41EB-991B-0B67D74B6EAF}"/>
              </a:ext>
            </a:extLst>
          </p:cNvPr>
          <p:cNvSpPr>
            <a:spLocks noGrp="1"/>
          </p:cNvSpPr>
          <p:nvPr/>
        </p:nvSpPr>
        <p:spPr>
          <a:xfrm>
            <a:off x="7610475" y="2733675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Peak orders add about 15.86 minutes.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1238250" y="4095750"/>
          <a:ext cx="4095750" cy="200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B00FA040-C066-4D8E-9615-E99B0AB77A2A}"/>
              </a:ext>
            </a:extLst>
          </p:cNvPr>
          <p:cNvSpPr>
            <a:spLocks noGrp="1"/>
          </p:cNvSpPr>
          <p:nvPr/>
        </p:nvSpPr>
        <p:spPr>
          <a:xfrm>
            <a:off x="5905500" y="428625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Statistical test: p-value &lt; 0.05, so peak-hour delay is significant.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D3AFBE-7A5F-4BCF-B37F-7670BF491184}"/>
              </a:ext>
            </a:extLst>
          </p:cNvPr>
          <p:cNvSpPr>
            <a:spLocks noGrp="1"/>
          </p:cNvSpPr>
          <p:nvPr/>
        </p:nvSpPr>
        <p:spPr>
          <a:xfrm>
            <a:off x="5905500" y="51911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Action: add rider capacity and route support during peak windows.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8C8B85-0CC8-46E9-A5A2-AE8B2E1637B0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3</a:t>
            </a:r>
          </a:p>
        </p:txBody>
      </p:sp>
    </p:spTree>
    <p:extLst>
      <p:ext uri="{BB962C8B-B14F-4D97-AF65-F5344CB8AC3E}">
        <p14:creationId xmlns:p14="http://schemas.microsoft.com/office/powerpoint/2010/main" val="198945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FE85DF-3BDF-4DE2-8965-B0C925A7AA4C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Q2: Weather 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BFFF0-0062-4955-BF2A-1A981120C1AD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Fog and rain are major external delay drivers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54A1D-3F50-494D-9478-873B837DF9B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714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="857250" y="2095500"/>
          <a:ext cx="4953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F9F444-02A3-469D-8156-FEBA88F4B16E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095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8F0E3-8293-480C-B3D3-12C04B159CCA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76200" cy="11430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D26D6-66C3-400F-A1AC-F67AEE3B010B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Highest Median Delay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E43A1F-D26F-4C66-A1E6-95466AB2ABFC}"/>
              </a:ext>
            </a:extLst>
          </p:cNvPr>
          <p:cNvSpPr>
            <a:spLocks noGrp="1"/>
          </p:cNvSpPr>
          <p:nvPr/>
        </p:nvSpPr>
        <p:spPr>
          <a:xfrm>
            <a:off x="6705600" y="2781300"/>
            <a:ext cx="3676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Fog: 37.9 minutes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A865BD-4200-4B92-821D-1E70D3D49A70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4095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679FB3-6C55-424F-B885-CB7034313EFD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76200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7A1E8-473F-4E76-B40D-BE018F13F9C3}"/>
              </a:ext>
            </a:extLst>
          </p:cNvPr>
          <p:cNvSpPr>
            <a:spLocks noGrp="1"/>
          </p:cNvSpPr>
          <p:nvPr/>
        </p:nvSpPr>
        <p:spPr>
          <a:xfrm>
            <a:off x="6705600" y="37909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Rain Impact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B8C9E5-F0C1-40E8-854E-A66471EC127B}"/>
              </a:ext>
            </a:extLst>
          </p:cNvPr>
          <p:cNvSpPr>
            <a:spLocks noGrp="1"/>
          </p:cNvSpPr>
          <p:nvPr/>
        </p:nvSpPr>
        <p:spPr>
          <a:xfrm>
            <a:off x="6705600" y="4210050"/>
            <a:ext cx="3676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Rain: 29.4 minutes median delay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17BF41-5044-4BB5-897F-09817427F520}"/>
              </a:ext>
            </a:extLst>
          </p:cNvPr>
          <p:cNvSpPr>
            <a:spLocks noGrp="1"/>
          </p:cNvSpPr>
          <p:nvPr/>
        </p:nvSpPr>
        <p:spPr>
          <a:xfrm>
            <a:off x="6477000" y="5048250"/>
            <a:ext cx="40957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D1B901-981C-40BE-9436-22D4DC8C6457}"/>
              </a:ext>
            </a:extLst>
          </p:cNvPr>
          <p:cNvSpPr>
            <a:spLocks noGrp="1"/>
          </p:cNvSpPr>
          <p:nvPr/>
        </p:nvSpPr>
        <p:spPr>
          <a:xfrm>
            <a:off x="6477000" y="5048250"/>
            <a:ext cx="76200" cy="85725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4163F4-83DA-4426-9D0C-2591C08E852A}"/>
              </a:ext>
            </a:extLst>
          </p:cNvPr>
          <p:cNvSpPr>
            <a:spLocks noGrp="1"/>
          </p:cNvSpPr>
          <p:nvPr/>
        </p:nvSpPr>
        <p:spPr>
          <a:xfrm>
            <a:off x="6705600" y="521970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Hardest-Hit Rain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75A725-4FF4-4794-8207-36C33EEBB984}"/>
              </a:ext>
            </a:extLst>
          </p:cNvPr>
          <p:cNvSpPr>
            <a:spLocks noGrp="1"/>
          </p:cNvSpPr>
          <p:nvPr/>
        </p:nvSpPr>
        <p:spPr>
          <a:xfrm>
            <a:off x="6705600" y="5638800"/>
            <a:ext cx="3676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Medicine: 34.65 minutes median delay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333F2-8F77-4A40-8852-53E78559AAC1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4</a:t>
            </a:r>
          </a:p>
        </p:txBody>
      </p:sp>
    </p:spTree>
    <p:extLst>
      <p:ext uri="{BB962C8B-B14F-4D97-AF65-F5344CB8AC3E}">
        <p14:creationId xmlns:p14="http://schemas.microsoft.com/office/powerpoint/2010/main" val="140953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795D08C-9574-4405-93E0-05FC17E01D2B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Q3: Rider Experience and City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8B3B5-7BAE-4D8F-97E3-C6CE6F5260A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Experience is not the main root cause; city operations vary more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51F9A6-188F-4B50-96FE-A3C81B16DA5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714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F6DF27-37EC-4FDE-A34C-66665BDB9B6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F4B93-6DC6-46D5-ADE3-67EF7EBC431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" cy="128587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5C9C3A-5B62-43E4-A550-CB5455758AB2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Under 2 Years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44A44F-47C1-4CA3-96F2-8328F4366E96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Average delay: 13.75 minutes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B6016C-2348-46B9-B6B6-6F02C1484BC4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238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D4F65-54B8-46BA-BE5C-C4BE5E184520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76200" cy="128587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9070C-E0A8-4E67-9DAF-330E0F0CC39F}"/>
              </a:ext>
            </a:extLst>
          </p:cNvPr>
          <p:cNvSpPr>
            <a:spLocks noGrp="1"/>
          </p:cNvSpPr>
          <p:nvPr/>
        </p:nvSpPr>
        <p:spPr>
          <a:xfrm>
            <a:off x="4705350" y="22669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Over 4 Years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B8861-C919-4F30-A465-08B2E223B866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Average delay: 14.35 minutes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328973-602C-4901-8069-3B20CEEB234E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2857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C01A3E-99F8-4FD2-A673-7FF7D113E6A1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76200" cy="12858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F0E79E-7AED-4C54-8E24-8C6309627F53}"/>
              </a:ext>
            </a:extLst>
          </p:cNvPr>
          <p:cNvSpPr>
            <a:spLocks noGrp="1"/>
          </p:cNvSpPr>
          <p:nvPr/>
        </p:nvSpPr>
        <p:spPr>
          <a:xfrm>
            <a:off x="8420100" y="22669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E53CB-985B-4C9B-9DE4-35F48C26DA89}"/>
              </a:ext>
            </a:extLst>
          </p:cNvPr>
          <p:cNvSpPr>
            <a:spLocks noGrp="1"/>
          </p:cNvSpPr>
          <p:nvPr/>
        </p:nvSpPr>
        <p:spPr>
          <a:xfrm>
            <a:off x="8420100" y="2686050"/>
            <a:ext cx="243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Difference is small; operational conditions matter more.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="1143000" y="4095750"/>
          <a:ext cx="4762500" cy="200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38EE8209-DF8B-45BC-8F83-437ABCA3DCAB}"/>
              </a:ext>
            </a:extLst>
          </p:cNvPr>
          <p:cNvSpPr>
            <a:spLocks noGrp="1"/>
          </p:cNvSpPr>
          <p:nvPr/>
        </p:nvSpPr>
        <p:spPr>
          <a:xfrm>
            <a:off x="6477000" y="4476750"/>
            <a:ext cx="4095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City insight: Hyderabad performs best among shown cities, while Bangalore needs stronger dispatch planning.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A9C70F-5F6F-4D5A-BA9A-C876DD1439E9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5</a:t>
            </a:r>
          </a:p>
        </p:txBody>
      </p:sp>
    </p:spTree>
    <p:extLst>
      <p:ext uri="{BB962C8B-B14F-4D97-AF65-F5344CB8AC3E}">
        <p14:creationId xmlns:p14="http://schemas.microsoft.com/office/powerpoint/2010/main" val="213696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2284784-514C-43C1-9761-5863B995C068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Basic Machine Learning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3049AB-B4DA-4F89-AE8A-996D728BF26B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 baseline classifier predicts delayed vs on-time orders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E1843-0677-4903-8C97-26664109B7D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714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FB35DF-3095-4D5D-9DB5-E890FB02A980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31432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7A44D2-D970-4B2F-A6C2-CF4213EFE706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76200" cy="12858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FC5BBC-4FB1-48B9-8BAF-CCBA25C20439}"/>
              </a:ext>
            </a:extLst>
          </p:cNvPr>
          <p:cNvSpPr>
            <a:spLocks noGrp="1"/>
          </p:cNvSpPr>
          <p:nvPr/>
        </p:nvSpPr>
        <p:spPr>
          <a:xfrm>
            <a:off x="1038225" y="236220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Target 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6E59B-14CB-4884-8632-38858135FD1D}"/>
              </a:ext>
            </a:extLst>
          </p:cNvPr>
          <p:cNvSpPr>
            <a:spLocks noGrp="1"/>
          </p:cNvSpPr>
          <p:nvPr/>
        </p:nvSpPr>
        <p:spPr>
          <a:xfrm>
            <a:off x="1038225" y="278130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Delayed vs On-Time delivery status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C7312E-582C-4C96-94D5-94FF86CC6A8B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31432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87875B-40FA-40C8-BED5-48D0E406C691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76200" cy="128587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D85B9C-712C-4475-9E20-CA6C02E94FA7}"/>
              </a:ext>
            </a:extLst>
          </p:cNvPr>
          <p:cNvSpPr>
            <a:spLocks noGrp="1"/>
          </p:cNvSpPr>
          <p:nvPr/>
        </p:nvSpPr>
        <p:spPr>
          <a:xfrm>
            <a:off x="4752975" y="236220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Features Used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60F16-0359-43DE-BA18-22FC2DCFEA3B}"/>
              </a:ext>
            </a:extLst>
          </p:cNvPr>
          <p:cNvSpPr>
            <a:spLocks noGrp="1"/>
          </p:cNvSpPr>
          <p:nvPr/>
        </p:nvSpPr>
        <p:spPr>
          <a:xfrm>
            <a:off x="4752975" y="278130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City, zone, vehicle, order type, weather, distance, hour, peak flag, rider metrics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52226C-654D-48DD-B5F8-BAADFF4583D5}"/>
              </a:ext>
            </a:extLst>
          </p:cNvPr>
          <p:cNvSpPr>
            <a:spLocks noGrp="1"/>
          </p:cNvSpPr>
          <p:nvPr/>
        </p:nvSpPr>
        <p:spPr>
          <a:xfrm>
            <a:off x="8239125" y="2190750"/>
            <a:ext cx="28575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DD8E6C-AD0D-4070-9D7A-54BC8A7EB9AE}"/>
              </a:ext>
            </a:extLst>
          </p:cNvPr>
          <p:cNvSpPr>
            <a:spLocks noGrp="1"/>
          </p:cNvSpPr>
          <p:nvPr/>
        </p:nvSpPr>
        <p:spPr>
          <a:xfrm>
            <a:off x="8239125" y="2190750"/>
            <a:ext cx="76200" cy="128587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665CF-639F-4110-86C0-51D64E317F44}"/>
              </a:ext>
            </a:extLst>
          </p:cNvPr>
          <p:cNvSpPr>
            <a:spLocks noGrp="1"/>
          </p:cNvSpPr>
          <p:nvPr/>
        </p:nvSpPr>
        <p:spPr>
          <a:xfrm>
            <a:off x="8467725" y="2362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784CC2-A1D4-414B-B690-A08267AD7724}"/>
              </a:ext>
            </a:extLst>
          </p:cNvPr>
          <p:cNvSpPr>
            <a:spLocks noGrp="1"/>
          </p:cNvSpPr>
          <p:nvPr/>
        </p:nvSpPr>
        <p:spPr>
          <a:xfrm>
            <a:off x="8467725" y="2781300"/>
            <a:ext cx="243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Logistic Regression baseline with preprocessing pipeline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CB2C7-97A3-488E-95E0-289D898BEF18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 dirty="0">
                <a:solidFill>
                  <a:srgbClr val="0F172A"/>
                </a:solidFill>
              </a:rPr>
              <a:t>Why this matters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CB9A0F-EAED-430C-BD7C-1B5F4580A4B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933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lang="en-US" sz="1800" b="0" dirty="0">
                <a:solidFill>
                  <a:srgbClr val="475569"/>
                </a:solidFill>
              </a:rPr>
              <a:t>The ML model turns historical patterns into a decision</a:t>
            </a:r>
          </a:p>
          <a:p>
            <a:pPr algn="l">
              <a:defRPr sz="1800" b="0">
                <a:solidFill>
                  <a:srgbClr val="475569"/>
                </a:solidFill>
              </a:defRPr>
            </a:pPr>
            <a:r>
              <a:rPr lang="en-US" sz="1800" b="0" dirty="0">
                <a:solidFill>
                  <a:srgbClr val="475569"/>
                </a:solidFill>
              </a:rPr>
              <a:t>-support tool. It can flag high-risk orders before dispatch</a:t>
            </a:r>
          </a:p>
          <a:p>
            <a:pPr algn="l">
              <a:defRPr sz="1800" b="0">
                <a:solidFill>
                  <a:srgbClr val="475569"/>
                </a:solidFill>
              </a:defRPr>
            </a:pPr>
            <a:r>
              <a:rPr lang="en-US" sz="1800" b="0" dirty="0">
                <a:solidFill>
                  <a:srgbClr val="475569"/>
                </a:solidFill>
              </a:rPr>
              <a:t> and support proactive rider allocation.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C89D40-4F16-457C-83E7-50156015425F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624703-9D5A-BADE-F0AD-64C30CD7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77" y="3806142"/>
            <a:ext cx="4785273" cy="242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2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F2790E8-2E56-458D-8438-DAD1E5C8BF04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933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Final Operational 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3BDACE-8F95-44E9-8FE8-CAE12EA19924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Use a risk-based dispatch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6A7FD7-5BEE-4E80-841C-570024BD0CA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714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A2C09B-8289-4DFE-9481-8C907FA1C56F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4FA14-C67F-4B0F-818D-1355038D135E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76200" cy="11430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316E3-47BC-4801-89E9-206C6E716A68}"/>
              </a:ext>
            </a:extLst>
          </p:cNvPr>
          <p:cNvSpPr>
            <a:spLocks noGrp="1"/>
          </p:cNvSpPr>
          <p:nvPr/>
        </p:nvSpPr>
        <p:spPr>
          <a:xfrm>
            <a:off x="1038225" y="236220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1. Peak-Hour Staffing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A883E-8897-413C-9FCF-2B6AF6607926}"/>
              </a:ext>
            </a:extLst>
          </p:cNvPr>
          <p:cNvSpPr>
            <a:spLocks noGrp="1"/>
          </p:cNvSpPr>
          <p:nvPr/>
        </p:nvSpPr>
        <p:spPr>
          <a:xfrm>
            <a:off x="1038225" y="2781300"/>
            <a:ext cx="4343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Add rider capacity during 8-10 AM and 5-8 PM.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BD25AC-D5A6-4593-8AE1-2C627565DB0F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FF5BC6-1D5D-4856-B947-87024C532B60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76200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AB1FE5-63C9-44CA-A9D2-B2B7D6F643FE}"/>
              </a:ext>
            </a:extLst>
          </p:cNvPr>
          <p:cNvSpPr>
            <a:spLocks noGrp="1"/>
          </p:cNvSpPr>
          <p:nvPr/>
        </p:nvSpPr>
        <p:spPr>
          <a:xfrm>
            <a:off x="6515100" y="236220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2. Weather-Aware Priority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47F5DC-B4E9-4D57-8CB3-496F580A83C8}"/>
              </a:ext>
            </a:extLst>
          </p:cNvPr>
          <p:cNvSpPr>
            <a:spLocks noGrp="1"/>
          </p:cNvSpPr>
          <p:nvPr/>
        </p:nvSpPr>
        <p:spPr>
          <a:xfrm>
            <a:off x="6515100" y="2781300"/>
            <a:ext cx="4343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During rain and fog, prioritize Medicine orders.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3DACD7-1F53-4430-9371-FB8561D647CD}"/>
              </a:ext>
            </a:extLst>
          </p:cNvPr>
          <p:cNvSpPr>
            <a:spLocks noGrp="1"/>
          </p:cNvSpPr>
          <p:nvPr/>
        </p:nvSpPr>
        <p:spPr>
          <a:xfrm>
            <a:off x="809625" y="3762375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757399-417E-4BB5-A770-367C9A22AB4A}"/>
              </a:ext>
            </a:extLst>
          </p:cNvPr>
          <p:cNvSpPr>
            <a:spLocks noGrp="1"/>
          </p:cNvSpPr>
          <p:nvPr/>
        </p:nvSpPr>
        <p:spPr>
          <a:xfrm>
            <a:off x="809625" y="3762375"/>
            <a:ext cx="76200" cy="11430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0B6000-2CFD-48F6-B0A8-C360AB9CD569}"/>
              </a:ext>
            </a:extLst>
          </p:cNvPr>
          <p:cNvSpPr>
            <a:spLocks noGrp="1"/>
          </p:cNvSpPr>
          <p:nvPr/>
        </p:nvSpPr>
        <p:spPr>
          <a:xfrm>
            <a:off x="1038225" y="393382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3. City-Level Rebalancing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62A7C8-9608-4371-8F36-056487903603}"/>
              </a:ext>
            </a:extLst>
          </p:cNvPr>
          <p:cNvSpPr>
            <a:spLocks noGrp="1"/>
          </p:cNvSpPr>
          <p:nvPr/>
        </p:nvSpPr>
        <p:spPr>
          <a:xfrm>
            <a:off x="1038225" y="4352925"/>
            <a:ext cx="4343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Track city on-time rates weekly and rebalance supply.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C83018-8247-40C6-98CC-88D128C80EB2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D341C-F432-44ED-821B-39399822BA3A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76200" cy="11430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293458-1636-4F15-9007-8FBC700E5510}"/>
              </a:ext>
            </a:extLst>
          </p:cNvPr>
          <p:cNvSpPr>
            <a:spLocks noGrp="1"/>
          </p:cNvSpPr>
          <p:nvPr/>
        </p:nvSpPr>
        <p:spPr>
          <a:xfrm>
            <a:off x="6515100" y="3933825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4. Vehicle Assignment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FAF598-84D0-49D4-B893-633BE260D3C2}"/>
              </a:ext>
            </a:extLst>
          </p:cNvPr>
          <p:cNvSpPr>
            <a:spLocks noGrp="1"/>
          </p:cNvSpPr>
          <p:nvPr/>
        </p:nvSpPr>
        <p:spPr>
          <a:xfrm>
            <a:off x="6515100" y="4352925"/>
            <a:ext cx="4343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Assign faster vehicles to high-risk city/weather combinations.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76F955-FE62-469C-BF03-E882B621D9D8}"/>
              </a:ext>
            </a:extLst>
          </p:cNvPr>
          <p:cNvSpPr>
            <a:spLocks noGrp="1"/>
          </p:cNvSpPr>
          <p:nvPr/>
        </p:nvSpPr>
        <p:spPr>
          <a:xfrm>
            <a:off x="1095375" y="5572125"/>
            <a:ext cx="952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Single biggest fix: combine peak-hour staffing with weather-aware dispatching.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0C589D-39CB-4738-8B3A-A9765E5B87E8}"/>
              </a:ext>
            </a:extLst>
          </p:cNvPr>
          <p:cNvSpPr>
            <a:spLocks noGrp="1"/>
          </p:cNvSpPr>
          <p:nvPr/>
        </p:nvSpPr>
        <p:spPr>
          <a:xfrm>
            <a:off x="8620125" y="64293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MiniHack AI Data Intelligence Challenge | 7</a:t>
            </a:r>
          </a:p>
        </p:txBody>
      </p:sp>
    </p:spTree>
    <p:extLst>
      <p:ext uri="{BB962C8B-B14F-4D97-AF65-F5344CB8AC3E}">
        <p14:creationId xmlns:p14="http://schemas.microsoft.com/office/powerpoint/2010/main" val="16767095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550</Words>
  <Application>Microsoft Office PowerPoint</Application>
  <DocSecurity>0</DocSecurity>
  <PresentationFormat>Widescreen</PresentationFormat>
  <Paragraphs>94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Awantika Tripathi</cp:lastModifiedBy>
  <cp:revision>2</cp:revision>
  <dcterms:created xsi:type="dcterms:W3CDTF">2026-06-25T08:58:24Z</dcterms:created>
  <dcterms:modified xsi:type="dcterms:W3CDTF">2026-06-25T10:22:49Z</dcterms:modified>
</cp:coreProperties>
</file>